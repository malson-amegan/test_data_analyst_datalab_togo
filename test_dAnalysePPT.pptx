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0005F-BC0D-AFE8-ABD8-495B82150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5916" y="1013315"/>
            <a:ext cx="8637073" cy="2541431"/>
          </a:xfrm>
        </p:spPr>
        <p:txBody>
          <a:bodyPr>
            <a:noAutofit/>
          </a:bodyPr>
          <a:lstStyle/>
          <a:p>
            <a:pPr algn="ctr"/>
            <a:r>
              <a:rPr lang="fr-FR" sz="4400" dirty="0"/>
              <a:t>Optimisation du réseau de services publics pour la délivrance de documents officiels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80F34A-E902-B700-4D75-A9C323AAA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4900" y="3826626"/>
            <a:ext cx="8637072" cy="977621"/>
          </a:xfrm>
        </p:spPr>
        <p:txBody>
          <a:bodyPr/>
          <a:lstStyle/>
          <a:p>
            <a:r>
              <a:rPr lang="fr-FR" dirty="0" err="1"/>
              <a:t>malson</a:t>
            </a:r>
            <a:r>
              <a:rPr lang="fr-FR" dirty="0"/>
              <a:t> </a:t>
            </a:r>
            <a:r>
              <a:rPr lang="fr-FR" dirty="0" err="1"/>
              <a:t>amegan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0057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B0475-F99E-489A-AC3C-23A8FA8A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798973"/>
            <a:ext cx="5156851" cy="1732354"/>
          </a:xfrm>
        </p:spPr>
        <p:txBody>
          <a:bodyPr/>
          <a:lstStyle/>
          <a:p>
            <a:r>
              <a:rPr lang="fr-FR" b="1" i="0" dirty="0">
                <a:effectLst/>
                <a:latin typeface="Goudy Old Style" panose="02020502050305020303" pitchFamily="18" charset="0"/>
              </a:rPr>
              <a:t>Optimisation du Réseau de Délivrance des Documents Officiels au Togo</a:t>
            </a:r>
            <a:endParaRPr lang="fr-TG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041F24DE-4604-4D62-B87F-9D540EFA3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1500" y="798973"/>
            <a:ext cx="5156851" cy="4654699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A065785-7107-4953-B7BD-551810980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4670" y="3222703"/>
            <a:ext cx="5156851" cy="246961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1600" b="1" dirty="0">
                <a:latin typeface="Goudy Old Style" panose="02020502050305020303" pitchFamily="18" charset="0"/>
              </a:rPr>
              <a:t>Problématique :</a:t>
            </a:r>
            <a:r>
              <a:rPr lang="fr-FR" sz="1600" dirty="0">
                <a:latin typeface="Goudy Old Style" panose="02020502050305020303" pitchFamily="18" charset="0"/>
              </a:rPr>
              <a:t> Comment réduire les délais et garantir l'équité territoriale face à une demande croissante ?</a:t>
            </a:r>
          </a:p>
          <a:p>
            <a:pPr marL="0" indent="0">
              <a:buNone/>
            </a:pPr>
            <a:r>
              <a:rPr lang="fr-FR" sz="1600" b="1" dirty="0">
                <a:latin typeface="Goudy Old Style" panose="02020502050305020303" pitchFamily="18" charset="0"/>
              </a:rPr>
              <a:t>Objectif :</a:t>
            </a:r>
            <a:r>
              <a:rPr lang="fr-FR" sz="1600" dirty="0">
                <a:latin typeface="Goudy Old Style" panose="02020502050305020303" pitchFamily="18" charset="0"/>
              </a:rPr>
              <a:t> Transformer les données brutes en leviers d'action pour le gouvernement.</a:t>
            </a:r>
          </a:p>
          <a:p>
            <a:pPr marL="0" indent="0" algn="l">
              <a:buNone/>
            </a:pPr>
            <a:r>
              <a:rPr lang="fr-FR" b="1" i="0" dirty="0">
                <a:effectLst/>
                <a:latin typeface="Goudy Old Style" panose="02020502050305020303" pitchFamily="18" charset="0"/>
              </a:rPr>
              <a:t>Analyse de la performance et stratégie d'équité territoriale.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Goudy Old Style" panose="02020502050305020303" pitchFamily="18" charset="0"/>
              </a:rPr>
              <a:t>Contenu :</a:t>
            </a:r>
            <a:endParaRPr lang="fr-FR" b="0" i="0" dirty="0">
              <a:effectLst/>
              <a:latin typeface="Goudy Old Style" panose="02020502050305020303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Goudy Old Style" panose="02020502050305020303" pitchFamily="18" charset="0"/>
              </a:rPr>
              <a:t>Mission :</a:t>
            </a:r>
            <a:r>
              <a:rPr lang="fr-FR" b="0" i="0" dirty="0">
                <a:effectLst/>
                <a:latin typeface="Goudy Old Style" panose="02020502050305020303" pitchFamily="18" charset="0"/>
              </a:rPr>
              <a:t> Réduire les délais et améliorer l'expérience citoyenne.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Goudy Old Style" panose="02020502050305020303" pitchFamily="18" charset="0"/>
              </a:rPr>
              <a:t>Périmètre :</a:t>
            </a:r>
            <a:r>
              <a:rPr lang="fr-FR" b="0" i="0" dirty="0">
                <a:effectLst/>
                <a:latin typeface="Goudy Old Style" panose="02020502050305020303" pitchFamily="18" charset="0"/>
              </a:rPr>
              <a:t> 8 bases de données (Opérations, Démographie, Socio-économie).</a:t>
            </a:r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53220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C12E7C-F3E7-43CB-AB0E-0603850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798974"/>
            <a:ext cx="4532383" cy="1676598"/>
          </a:xfrm>
        </p:spPr>
        <p:txBody>
          <a:bodyPr/>
          <a:lstStyle/>
          <a:p>
            <a:r>
              <a:rPr lang="fr-FR" b="1" i="0" dirty="0">
                <a:effectLst/>
                <a:latin typeface="Goudy Old Style" panose="02020502050305020303" pitchFamily="18" charset="0"/>
              </a:rPr>
              <a:t>Une démarche basée sur la fiabilité des données.</a:t>
            </a:r>
            <a:br>
              <a:rPr lang="fr-FR" b="0" i="0" dirty="0">
                <a:effectLst/>
                <a:latin typeface="Inter"/>
              </a:rPr>
            </a:br>
            <a:endParaRPr lang="fr-TG" dirty="0"/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242161EF-20D8-4E4C-A70C-DB7329CF41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798974"/>
            <a:ext cx="5623931" cy="4531309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80B803-9DF4-4312-AE45-CC2ED0F0D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4671" y="3256156"/>
            <a:ext cx="4532383" cy="2074127"/>
          </a:xfrm>
        </p:spPr>
        <p:txBody>
          <a:bodyPr>
            <a:normAutofit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Traitement :</a:t>
            </a:r>
            <a:r>
              <a:rPr lang="fr-FR" b="0" i="0" dirty="0">
                <a:effectLst/>
                <a:latin typeface="Inter"/>
              </a:rPr>
              <a:t> Nettoyage Python, optimisation des types (Category) et calculs SQL.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Alerte Critique :</a:t>
            </a:r>
            <a:r>
              <a:rPr lang="fr-FR" b="0" i="0" dirty="0">
                <a:effectLst/>
                <a:latin typeface="Inter"/>
              </a:rPr>
              <a:t> </a:t>
            </a:r>
            <a:r>
              <a:rPr lang="fr-FR" b="1" i="0" dirty="0">
                <a:effectLst/>
                <a:latin typeface="Inter"/>
              </a:rPr>
              <a:t>22,9% des motifs de rejet sont non renseignés</a:t>
            </a:r>
            <a:r>
              <a:rPr lang="fr-FR" b="0" i="0" dirty="0">
                <a:effectLst/>
                <a:latin typeface="Inter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Impact :</a:t>
            </a:r>
            <a:r>
              <a:rPr lang="fr-FR" b="0" i="0" dirty="0">
                <a:effectLst/>
                <a:latin typeface="Inter"/>
              </a:rPr>
              <a:t> Impossibilité de corriger les erreurs récurrentes des usagers.</a:t>
            </a:r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106262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AB5207-939A-46FA-B9EE-2AE36368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798973"/>
            <a:ext cx="3428412" cy="2247117"/>
          </a:xfrm>
        </p:spPr>
        <p:txBody>
          <a:bodyPr/>
          <a:lstStyle/>
          <a:p>
            <a:r>
              <a:rPr lang="fr-FR" b="1" i="0" dirty="0">
                <a:effectLst/>
                <a:latin typeface="Goudy Old Style" panose="02020502050305020303" pitchFamily="18" charset="0"/>
              </a:rPr>
              <a:t>Fracture Administrative : Le défi de l'éloignement.</a:t>
            </a:r>
            <a:br>
              <a:rPr lang="fr-FR" b="1" i="0" dirty="0">
                <a:effectLst/>
                <a:latin typeface="Goudy Old Style" panose="02020502050305020303" pitchFamily="18" charset="0"/>
              </a:rPr>
            </a:br>
            <a:endParaRPr lang="fr-TG" b="1" dirty="0">
              <a:latin typeface="Goudy Old Style" panose="02020502050305020303" pitchFamily="18" charset="0"/>
            </a:endParaRP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1806FA9-AE69-43F5-8BB5-C618ACCDB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4286" y="738532"/>
            <a:ext cx="3645923" cy="3299225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75182E-E08A-4335-96DF-3B4C85B1F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428412" cy="2248181"/>
          </a:xfrm>
        </p:spPr>
        <p:txBody>
          <a:bodyPr>
            <a:normAutofit lnSpcReduction="10000"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Région Centrale :</a:t>
            </a:r>
            <a:r>
              <a:rPr lang="fr-FR" b="0" i="0" dirty="0">
                <a:effectLst/>
                <a:latin typeface="Inter"/>
              </a:rPr>
              <a:t> Plus forte pression (272 </a:t>
            </a:r>
            <a:r>
              <a:rPr lang="fr-FR" b="0" i="0" dirty="0" err="1">
                <a:effectLst/>
                <a:latin typeface="Inter"/>
              </a:rPr>
              <a:t>hab</a:t>
            </a:r>
            <a:r>
              <a:rPr lang="fr-FR" b="0" i="0" dirty="0">
                <a:effectLst/>
                <a:latin typeface="Inter"/>
              </a:rPr>
              <a:t>/km²) mais infrastructure saturée.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Région des Savanes :</a:t>
            </a:r>
            <a:r>
              <a:rPr lang="fr-FR" b="0" i="0" dirty="0">
                <a:effectLst/>
                <a:latin typeface="Inter"/>
              </a:rPr>
              <a:t> </a:t>
            </a:r>
            <a:r>
              <a:rPr lang="fr-FR" b="1" i="0" dirty="0">
                <a:effectLst/>
                <a:latin typeface="Inter"/>
              </a:rPr>
              <a:t>500 km</a:t>
            </a:r>
            <a:r>
              <a:rPr lang="fr-FR" b="0" i="0" dirty="0">
                <a:effectLst/>
                <a:latin typeface="Inter"/>
              </a:rPr>
              <a:t> de la capitale, accès électricité limité (71%).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Constat :</a:t>
            </a:r>
            <a:r>
              <a:rPr lang="fr-FR" b="0" i="0" dirty="0">
                <a:effectLst/>
                <a:latin typeface="Inter"/>
              </a:rPr>
              <a:t> L'accessibilité physique est la barrière principale au Nord.</a:t>
            </a:r>
          </a:p>
          <a:p>
            <a:endParaRPr lang="fr-TG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082721-1D95-495C-9853-46BFBD9E9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083" y="738533"/>
            <a:ext cx="3381203" cy="329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7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ABC0F8-554C-4B0C-91E3-E9A8F7F22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1944227"/>
          </a:xfrm>
        </p:spPr>
        <p:txBody>
          <a:bodyPr/>
          <a:lstStyle/>
          <a:p>
            <a:r>
              <a:rPr lang="fr-FR" b="1" i="0" dirty="0">
                <a:effectLst/>
                <a:latin typeface="Goudy Old Style" panose="02020502050305020303" pitchFamily="18" charset="0"/>
              </a:rPr>
              <a:t>Dashboard de Pilotage : Mesurer pour agir.</a:t>
            </a:r>
            <a:br>
              <a:rPr lang="fr-FR" b="0" i="0" dirty="0">
                <a:effectLst/>
                <a:latin typeface="Inter"/>
              </a:rPr>
            </a:br>
            <a:endParaRPr lang="fr-TG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D53C9AD-0055-49F0-AC7A-69EA1C20C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8863" y="798973"/>
            <a:ext cx="7251480" cy="456476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5EC8BF-789E-4AF4-AE69-A316D58CE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Délai (DMT) :</a:t>
            </a:r>
            <a:r>
              <a:rPr lang="fr-FR" b="0" i="0" dirty="0">
                <a:effectLst/>
                <a:latin typeface="Inter"/>
              </a:rPr>
              <a:t> ~23 jours. Le Passeport reste le document le plus lent (24.5j).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Saturation :</a:t>
            </a:r>
            <a:r>
              <a:rPr lang="fr-FR" b="0" i="0" dirty="0">
                <a:effectLst/>
                <a:latin typeface="Inter"/>
              </a:rPr>
              <a:t> Écart critique de temps d'attente (22 min vs </a:t>
            </a:r>
            <a:r>
              <a:rPr lang="fr-FR" b="1" i="0" dirty="0">
                <a:effectLst/>
                <a:latin typeface="Inter"/>
              </a:rPr>
              <a:t>119 min au CT054</a:t>
            </a:r>
            <a:r>
              <a:rPr lang="fr-FR" b="0" i="0" dirty="0">
                <a:effectLst/>
                <a:latin typeface="Inter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Productivité :</a:t>
            </a:r>
            <a:r>
              <a:rPr lang="fr-FR" b="0" i="0" dirty="0">
                <a:effectLst/>
                <a:latin typeface="Inter"/>
              </a:rPr>
              <a:t> Ratio de 1 à 5 entre les centres (4.5 vs 22.8 docs/agent).</a:t>
            </a:r>
          </a:p>
          <a:p>
            <a:endParaRPr lang="fr-TG" dirty="0"/>
          </a:p>
        </p:txBody>
      </p:sp>
    </p:spTree>
    <p:extLst>
      <p:ext uri="{BB962C8B-B14F-4D97-AF65-F5344CB8AC3E}">
        <p14:creationId xmlns:p14="http://schemas.microsoft.com/office/powerpoint/2010/main" val="380075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48B61-582A-4EB9-AD21-E981F416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4671" y="798973"/>
            <a:ext cx="4377069" cy="1776959"/>
          </a:xfrm>
        </p:spPr>
        <p:txBody>
          <a:bodyPr/>
          <a:lstStyle/>
          <a:p>
            <a:r>
              <a:rPr lang="fr-FR" b="1" i="0" dirty="0">
                <a:effectLst/>
                <a:latin typeface="Goudy Old Style" panose="02020502050305020303" pitchFamily="18" charset="0"/>
              </a:rPr>
              <a:t> Vers une administration hybride et performante.</a:t>
            </a:r>
            <a:br>
              <a:rPr lang="fr-FR" b="0" i="0" dirty="0">
                <a:effectLst/>
                <a:latin typeface="Inter"/>
              </a:rPr>
            </a:br>
            <a:endParaRPr lang="fr-TG" dirty="0"/>
          </a:p>
        </p:txBody>
      </p:sp>
      <p:pic>
        <p:nvPicPr>
          <p:cNvPr id="6" name="Espace réservé du contenu 5" descr="Smartphone avec un remplissage uni">
            <a:extLst>
              <a:ext uri="{FF2B5EF4-FFF2-40B4-BE49-F238E27FC236}">
                <a16:creationId xmlns:a16="http://schemas.microsoft.com/office/drawing/2014/main" id="{97C00BC8-CF37-43AA-B299-0DE720B4B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0261" y="1219101"/>
            <a:ext cx="1259294" cy="1259294"/>
          </a:xfr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533867-BE21-4173-A0C0-9DE92210E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4670" y="3205490"/>
            <a:ext cx="4651329" cy="2448177"/>
          </a:xfrm>
        </p:spPr>
        <p:txBody>
          <a:bodyPr>
            <a:normAutofit/>
          </a:bodyPr>
          <a:lstStyle/>
          <a:p>
            <a:pPr lvl="1" algn="l"/>
            <a:r>
              <a:rPr lang="fr-FR" b="1" i="0" dirty="0">
                <a:effectLst/>
                <a:latin typeface="Inter"/>
              </a:rPr>
              <a:t>Digitalisation Zone Sud :</a:t>
            </a:r>
            <a:r>
              <a:rPr lang="fr-FR" b="0" i="0" dirty="0">
                <a:effectLst/>
                <a:latin typeface="Inter"/>
              </a:rPr>
              <a:t> Priorité e-services dans les zones denses (Maritime/Centrale).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Unités Mobiles Zone Nord :</a:t>
            </a:r>
            <a:r>
              <a:rPr lang="fr-FR" b="0" i="0" dirty="0">
                <a:effectLst/>
                <a:latin typeface="Inter"/>
              </a:rPr>
              <a:t> Camions-guichets itinérants pour les Savanes/Kara.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Excellence Opérationnelle :</a:t>
            </a:r>
            <a:r>
              <a:rPr lang="fr-FR" b="0" i="0" dirty="0">
                <a:effectLst/>
                <a:latin typeface="Inter"/>
              </a:rPr>
              <a:t> Audit immédiat du centre CT054 et formation du personnel.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fr-FR" b="1" i="0" dirty="0">
                <a:effectLst/>
                <a:latin typeface="Inter"/>
              </a:rPr>
              <a:t>Gouvernance :</a:t>
            </a:r>
            <a:r>
              <a:rPr lang="fr-FR" b="0" i="0" dirty="0">
                <a:effectLst/>
                <a:latin typeface="Inter"/>
              </a:rPr>
              <a:t> Rendre obligatoire la saisie des motifs de rejet.</a:t>
            </a:r>
          </a:p>
          <a:p>
            <a:endParaRPr lang="fr-TG" dirty="0"/>
          </a:p>
        </p:txBody>
      </p:sp>
      <p:pic>
        <p:nvPicPr>
          <p:cNvPr id="8" name="Graphique 7" descr="Statistiques avec un remplissage uni">
            <a:extLst>
              <a:ext uri="{FF2B5EF4-FFF2-40B4-BE49-F238E27FC236}">
                <a16:creationId xmlns:a16="http://schemas.microsoft.com/office/drawing/2014/main" id="{8693A729-AACF-4F7E-8B69-D24D7C9BC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0698" y="2478395"/>
            <a:ext cx="1259294" cy="1259294"/>
          </a:xfrm>
          <a:prstGeom prst="rect">
            <a:avLst/>
          </a:prstGeom>
        </p:spPr>
      </p:pic>
      <p:pic>
        <p:nvPicPr>
          <p:cNvPr id="10" name="Graphique 9" descr="Camion avec un remplissage uni">
            <a:extLst>
              <a:ext uri="{FF2B5EF4-FFF2-40B4-BE49-F238E27FC236}">
                <a16:creationId xmlns:a16="http://schemas.microsoft.com/office/drawing/2014/main" id="{FD75E7E0-3AC2-4FD5-991D-1B03F45D43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4158" y="3574275"/>
            <a:ext cx="1259294" cy="125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34560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{67837226-5048-4765-B0A2-7F8505E572AD}TFc986dd65-aaf0-4d5c-bef9-9c391ee05f7bae806a50-f8f96d46f117</Template>
  <TotalTime>252</TotalTime>
  <Words>312</Words>
  <Application>Microsoft Office PowerPoint</Application>
  <PresentationFormat>Grand écran</PresentationFormat>
  <Paragraphs>26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Gill Sans MT</vt:lpstr>
      <vt:lpstr>Goudy Old Style</vt:lpstr>
      <vt:lpstr>Inter</vt:lpstr>
      <vt:lpstr>Galerie</vt:lpstr>
      <vt:lpstr>Optimisation du réseau de services publics pour la délivrance de documents officiels</vt:lpstr>
      <vt:lpstr>Optimisation du Réseau de Délivrance des Documents Officiels au Togo</vt:lpstr>
      <vt:lpstr>Une démarche basée sur la fiabilité des données. </vt:lpstr>
      <vt:lpstr>Fracture Administrative : Le défi de l'éloignement. </vt:lpstr>
      <vt:lpstr>Dashboard de Pilotage : Mesurer pour agir. </vt:lpstr>
      <vt:lpstr> Vers une administration hybride et performante.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du réseau de services publics pour la délivrance de documents officiels</dc:title>
  <dc:creator>CERGI Koffi Malson AMEGAN</dc:creator>
  <cp:lastModifiedBy>Malson AMEGAN</cp:lastModifiedBy>
  <cp:revision>14</cp:revision>
  <dcterms:created xsi:type="dcterms:W3CDTF">2026-01-20T08:02:11Z</dcterms:created>
  <dcterms:modified xsi:type="dcterms:W3CDTF">2026-01-21T01:02:17Z</dcterms:modified>
</cp:coreProperties>
</file>